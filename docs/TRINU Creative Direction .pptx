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aqzgjB5Q8xofZLvJAZ4K6+/jw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22B1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822960" y="137160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TRÏNŪ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68680" y="2331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BONDED WAREHOUSE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822960" y="329184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Visual Creative Direction Guide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22950" y="4160525"/>
            <a:ext cx="5049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D9D2C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9D2C8"/>
                </a:solidFill>
                <a:latin typeface="Calibri"/>
                <a:ea typeface="Calibri"/>
                <a:cs typeface="Calibri"/>
                <a:sym typeface="Calibri"/>
              </a:rPr>
              <a:t>Prepared for Lucid Lemons — the single visual reference for all TRÏNŪ creative output ahead of Launch Day, 28 September 2026.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5989320"/>
            <a:ext cx="237744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AFA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FA5"/>
                </a:solidFill>
                <a:latin typeface="Calibri"/>
                <a:ea typeface="Calibri"/>
                <a:cs typeface="Calibri"/>
                <a:sym typeface="Calibri"/>
              </a:rPr>
              <a:t>PREPARED BY MUKTAR MAHDI, BRAND MANAGER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HOW TO USE THIS GUIDE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One Brand, </a:t>
            </a:r>
            <a:r>
              <a:rPr b="1" lang="en-US" sz="3200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One</a:t>
            </a:r>
            <a:r>
              <a:rPr b="1" i="0" lang="en-US" sz="32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 Agenc</a:t>
            </a:r>
            <a:r>
              <a:rPr b="1" lang="en-US" sz="3200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Every rule in this guide applies to both agencies. Sections 8–9 also flag which workstream each agency owns.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2377440"/>
            <a:ext cx="5363100" cy="3291900"/>
          </a:xfrm>
          <a:prstGeom prst="roundRect">
            <a:avLst>
              <a:gd fmla="val 2222" name="adj"/>
            </a:avLst>
          </a:prstGeom>
          <a:solidFill>
            <a:srgbClr val="F4F3F1"/>
          </a:solidFill>
          <a:ln>
            <a:noFill/>
          </a:ln>
          <a:effectLst>
            <a:outerShdw blurRad="76200" rotWithShape="0" algn="bl" dir="5400000" dist="25400">
              <a:srgbClr val="999999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868680" y="2743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554480" y="2761488"/>
            <a:ext cx="41742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Lucid Lemons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868680" y="3474720"/>
            <a:ext cx="472287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Billboard creative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Media buying (billboard, radio, TV, print)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Press &amp; PR materials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Commissioning event coordination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277356" y="2377440"/>
            <a:ext cx="5362956" cy="3291840"/>
          </a:xfrm>
          <a:prstGeom prst="roundRect">
            <a:avLst>
              <a:gd fmla="val 2222" name="adj"/>
            </a:avLst>
          </a:prstGeom>
          <a:solidFill>
            <a:srgbClr val="F4F3F1"/>
          </a:solidFill>
          <a:ln>
            <a:noFill/>
          </a:ln>
          <a:effectLst>
            <a:outerShdw blurRad="76200" rotWithShape="0" algn="bl" dir="5400000" dist="25400">
              <a:srgbClr val="999999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6597396" y="3474720"/>
            <a:ext cx="472287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Content creation &amp; posting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Community management &amp; engagement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Paid social advertising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Influencer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UGC coordination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 flipH="1">
            <a:off x="11064253" y="6355075"/>
            <a:ext cx="21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22B1C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THE BIG IDEA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822960" y="1463040"/>
            <a:ext cx="9875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“TRÏNŪ brings the port closer —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 trade in Abuja moves at Abuja's pace.”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2C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D9D2C8"/>
                </a:solidFill>
                <a:latin typeface="Calibri"/>
                <a:ea typeface="Calibri"/>
                <a:cs typeface="Calibri"/>
                <a:sym typeface="Calibri"/>
              </a:rPr>
              <a:t>One idea, three audiences. Every piece of creative should trace back to this 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22960" y="3977640"/>
            <a:ext cx="3300984" cy="2286000"/>
          </a:xfrm>
          <a:prstGeom prst="roundRect">
            <a:avLst>
              <a:gd fmla="val 2400" name="adj"/>
            </a:avLst>
          </a:prstGeom>
          <a:solidFill>
            <a:srgbClr val="4E5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1051560" y="4206240"/>
            <a:ext cx="2843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Importers &amp; Traders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051560" y="4754880"/>
            <a:ext cx="284378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“Closer” = less travel, less time, less cost.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443984" y="3977640"/>
            <a:ext cx="3300984" cy="2286000"/>
          </a:xfrm>
          <a:prstGeom prst="roundRect">
            <a:avLst>
              <a:gd fmla="val 2400" name="adj"/>
            </a:avLst>
          </a:prstGeom>
          <a:solidFill>
            <a:srgbClr val="4E5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4672584" y="4206240"/>
            <a:ext cx="2843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Forwarders &amp; Agents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4672584" y="4754880"/>
            <a:ext cx="284378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“Brings the port closer” = a tool that helps their business, not a threat to 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065008" y="3977640"/>
            <a:ext cx="3300984" cy="2286000"/>
          </a:xfrm>
          <a:prstGeom prst="roundRect">
            <a:avLst>
              <a:gd fmla="val 2400" name="adj"/>
            </a:avLst>
          </a:prstGeom>
          <a:solidFill>
            <a:srgbClr val="4E5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 txBox="1"/>
          <p:nvPr/>
        </p:nvSpPr>
        <p:spPr>
          <a:xfrm>
            <a:off x="8293608" y="4206240"/>
            <a:ext cx="2843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Regulators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8293608" y="4754880"/>
            <a:ext cx="284378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“At Abuja's pace” signals orderly, compliant operations — not a shortcut.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POSITIONING &amp; TAGLINE OPTIONS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548640" y="86868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Choose the Right Line for the Channel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fmla="val 5263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777240" y="1961388"/>
            <a:ext cx="512064" cy="51206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 txBox="1"/>
          <p:nvPr/>
        </p:nvSpPr>
        <p:spPr>
          <a:xfrm>
            <a:off x="777240" y="196138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6"/>
              <a:buFont typeface="Calibri"/>
              <a:buNone/>
            </a:pPr>
            <a:r>
              <a:rPr b="1" i="0" lang="en-US" sz="14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1691640" y="1856232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Abuja's Gateway to Faster, Compliant Trade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7040880" y="1856232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Billboards, press, official communications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48640" y="2834640"/>
            <a:ext cx="11064240" cy="868680"/>
          </a:xfrm>
          <a:prstGeom prst="roundRect">
            <a:avLst>
              <a:gd fmla="val 5263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77240" y="3012948"/>
            <a:ext cx="512064" cy="512064"/>
          </a:xfrm>
          <a:prstGeom prst="ellipse">
            <a:avLst/>
          </a:prstGeom>
          <a:solidFill>
            <a:srgbClr val="B44D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777240" y="301294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6"/>
              <a:buFont typeface="Calibri"/>
              <a:buNone/>
            </a:pPr>
            <a:r>
              <a:rPr b="1" i="0" lang="en-US" sz="14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1691640" y="2907792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The Port, Closer to Home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7040880" y="2907792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Billboards — short, punchy, distance-focused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48640" y="3886200"/>
            <a:ext cx="11064240" cy="868680"/>
          </a:xfrm>
          <a:prstGeom prst="roundRect">
            <a:avLst>
              <a:gd fmla="val 5263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777240" y="4064508"/>
            <a:ext cx="512064" cy="512064"/>
          </a:xfrm>
          <a:prstGeom prst="ellipse">
            <a:avLst/>
          </a:prstGeom>
          <a:solidFill>
            <a:srgbClr val="4E5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777240" y="40645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6"/>
              <a:buFont typeface="Calibri"/>
              <a:buNone/>
            </a:pPr>
            <a:r>
              <a:rPr b="1" i="0" lang="en-US" sz="14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1691640" y="3959352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Built to Move With You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7040880" y="3959352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Agent/forwarder-facing materials — partnership 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48640" y="4937760"/>
            <a:ext cx="11064240" cy="868680"/>
          </a:xfrm>
          <a:prstGeom prst="roundRect">
            <a:avLst>
              <a:gd fmla="val 5263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777240" y="5116068"/>
            <a:ext cx="512064" cy="512064"/>
          </a:xfrm>
          <a:prstGeom prst="ellipse">
            <a:avLst/>
          </a:prstGeom>
          <a:solidFill>
            <a:srgbClr val="422B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777240" y="511606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6"/>
              <a:buFont typeface="Calibri"/>
              <a:buNone/>
            </a:pPr>
            <a:r>
              <a:rPr b="1" i="0" lang="en-US" sz="14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1691640" y="5010912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Secure. Compliant. Closer.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7040880" y="5010912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Regulator-facing or formal documentation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Recommend testing Primary and Alt 1 on billboard mockups before final selection.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VISUAL DIRECTION — COLOUR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Brand Colour Palette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48640" y="1828800"/>
            <a:ext cx="2514600" cy="1920240"/>
          </a:xfrm>
          <a:prstGeom prst="roundRect">
            <a:avLst>
              <a:gd fmla="val 2857" name="adj"/>
            </a:avLst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548640" y="38862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E5157"/>
                </a:solidFill>
                <a:latin typeface="Calibri"/>
                <a:ea typeface="Calibri"/>
                <a:cs typeface="Calibri"/>
                <a:sym typeface="Calibri"/>
              </a:rPr>
              <a:t>#FF6600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548640" y="420624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Safety Orange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548640" y="452628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Primary accent — CTAs, headlines, key highlights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319272" y="1828800"/>
            <a:ext cx="2514600" cy="1920240"/>
          </a:xfrm>
          <a:prstGeom prst="roundRect">
            <a:avLst>
              <a:gd fmla="val 2857" name="adj"/>
            </a:avLst>
          </a:prstGeom>
          <a:solidFill>
            <a:srgbClr val="B44D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3319272" y="38862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E5157"/>
                </a:solidFill>
                <a:latin typeface="Calibri"/>
                <a:ea typeface="Calibri"/>
                <a:cs typeface="Calibri"/>
                <a:sym typeface="Calibri"/>
              </a:rPr>
              <a:t>#B44D2F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3319272" y="420624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Medium Carmine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3319272" y="452628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Secondary accent — grounding, warm tones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089904" y="1828800"/>
            <a:ext cx="2514600" cy="1920240"/>
          </a:xfrm>
          <a:prstGeom prst="roundRect">
            <a:avLst>
              <a:gd fmla="val 2857" name="adj"/>
            </a:avLst>
          </a:prstGeom>
          <a:solidFill>
            <a:srgbClr val="422B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6089904" y="38862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E5157"/>
                </a:solidFill>
                <a:latin typeface="Calibri"/>
                <a:ea typeface="Calibri"/>
                <a:cs typeface="Calibri"/>
                <a:sym typeface="Calibri"/>
              </a:rPr>
              <a:t>#422B1C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089904" y="420624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Bistre Brown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6089904" y="452628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Secondary — dark backgrounds, depth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860536" y="1828800"/>
            <a:ext cx="2514600" cy="1920240"/>
          </a:xfrm>
          <a:prstGeom prst="roundRect">
            <a:avLst>
              <a:gd fmla="val 2857" name="adj"/>
            </a:avLst>
          </a:prstGeom>
          <a:solidFill>
            <a:srgbClr val="4E5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8860536" y="38862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E5157"/>
                </a:solidFill>
                <a:latin typeface="Calibri"/>
                <a:ea typeface="Calibri"/>
                <a:cs typeface="Calibri"/>
                <a:sym typeface="Calibri"/>
              </a:rPr>
              <a:t>#4E5157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8860536" y="420624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Muted Slate Gray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8860536" y="452628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Backgrounds — formal / regulator-facing materials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fmla="val 6667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Rule of thumb: Orange leads. Carmine and Brown ground it. Slate carries the formal, regulator-facing pieces. Keep layouts clean with generous white space.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VISUAL DIRECTION — TYPOGRAPHY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Typography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Montserrat throughout, per brand guidelines.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548640" y="184708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(Samples below are shown in this deck's presentation typeface — apply Montserrat in actual creative output.)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48640" y="2286000"/>
            <a:ext cx="11064240" cy="1600200"/>
          </a:xfrm>
          <a:prstGeom prst="roundRect">
            <a:avLst>
              <a:gd fmla="val 3429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868680" y="2404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Headline / Tagline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868680" y="2697480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Abuja's Gateway to Faster Trade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48640" y="4069080"/>
            <a:ext cx="11064240" cy="1600200"/>
          </a:xfrm>
          <a:prstGeom prst="roundRect">
            <a:avLst>
              <a:gd fmla="val 3429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868680" y="418795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Body Copy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868680" y="4498848"/>
            <a:ext cx="10424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Clear your goods closer to home. Save time, save cost, and skip the trip to Lagos or Kano — with full customs compliance built in.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fmla="val 8333" name="adj"/>
            </a:avLst>
          </a:prstGeom>
          <a:solidFill>
            <a:srgbClr val="422B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Bold weight for headlines and taglines  ·  Regular / light weight for body copy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VISUAL DIRECTION — IMAGERY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Photography &amp; Imagery Style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548640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A mix of real facility photography and the existing brand graphic system — real photos build credibility; graphics keep everything consistent.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48640" y="2331720"/>
            <a:ext cx="5212080" cy="2468880"/>
          </a:xfrm>
          <a:prstGeom prst="roundRect">
            <a:avLst>
              <a:gd fmla="val 2222" name="adj"/>
            </a:avLst>
          </a:prstGeom>
          <a:solidFill>
            <a:srgbClr val="4E5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2788920" y="3017520"/>
            <a:ext cx="731520" cy="7315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2788920" y="30175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Calibri"/>
              <a:buNone/>
            </a:pPr>
            <a:r>
              <a:t/>
            </a:r>
            <a:endParaRPr b="0" i="0" sz="2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822960" y="38862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FACILITY PHOTOGRAPHY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822960" y="42519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D2C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9D2C8"/>
                </a:solidFill>
                <a:latin typeface="Calibri"/>
                <a:ea typeface="Calibri"/>
                <a:cs typeface="Calibri"/>
                <a:sym typeface="Calibri"/>
              </a:rPr>
              <a:t>Facility, security features, cargo handling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217920" y="2331720"/>
            <a:ext cx="5212080" cy="2468880"/>
          </a:xfrm>
          <a:prstGeom prst="roundRect">
            <a:avLst>
              <a:gd fmla="val 2222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458200" y="3017520"/>
            <a:ext cx="731520" cy="731520"/>
          </a:xfrm>
          <a:prstGeom prst="ellipse">
            <a:avLst/>
          </a:prstGeom>
          <a:solidFill>
            <a:srgbClr val="B44D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8458200" y="30175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Calibri"/>
              <a:buNone/>
            </a:pPr>
            <a:r>
              <a:t/>
            </a:r>
            <a:endParaRPr b="0" i="0" sz="2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6492240" y="38862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E5157"/>
                </a:solidFill>
                <a:latin typeface="Calibri"/>
                <a:ea typeface="Calibri"/>
                <a:cs typeface="Calibri"/>
                <a:sym typeface="Calibri"/>
              </a:rPr>
              <a:t>BRAND GRAPHIC ELEMENTS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6492240" y="42519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Route/network lines, container icons, handshake icon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548640" y="5074920"/>
            <a:ext cx="11064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Prioritize real photography once available — this is a trust-building brand and seeing is believing.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Use brand graphics as supporting elements, not the primary visual.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Avoid generic stock photography of unrelated ports or warehouses — default to brand graphics if real photography isn't ready.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22B1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TONE OF VOICE &amp; COPY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Plain-Spoken. Confident. Never Overselling.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22960" y="1920240"/>
            <a:ext cx="5029200" cy="4206240"/>
          </a:xfrm>
          <a:prstGeom prst="roundRect">
            <a:avLst>
              <a:gd fmla="val 1304" name="adj"/>
            </a:avLst>
          </a:prstGeom>
          <a:solidFill>
            <a:srgbClr val="4E5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1097280" y="21488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1097280" y="2697480"/>
            <a:ext cx="44805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 sentences, plain language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 with the benefit before the feature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Formal precision when speaking to regulators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 agents/forwarders as partners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309360" y="1920240"/>
            <a:ext cx="5029200" cy="4206240"/>
          </a:xfrm>
          <a:prstGeom prst="roundRect">
            <a:avLst>
              <a:gd fmla="val 1304" name="adj"/>
            </a:avLst>
          </a:prstGeom>
          <a:solidFill>
            <a:srgbClr val="5A2A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6583680" y="21488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4D2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44D2F"/>
                </a:solidFill>
                <a:latin typeface="Calibri"/>
                <a:ea typeface="Calibri"/>
                <a:cs typeface="Calibri"/>
                <a:sym typeface="Calibri"/>
              </a:rPr>
              <a:t>DON'T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6583680" y="2697480"/>
            <a:ext cx="44805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FE7DD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FE7DD"/>
                </a:solidFill>
                <a:latin typeface="Calibri"/>
                <a:ea typeface="Calibri"/>
                <a:cs typeface="Calibri"/>
                <a:sym typeface="Calibri"/>
              </a:rPr>
              <a:t>Use hype language — “revolutionary,” “the best,” “guaranteed”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Clr>
                <a:srgbClr val="EFE7DD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FE7DD"/>
                </a:solidFill>
                <a:latin typeface="Calibri"/>
                <a:ea typeface="Calibri"/>
                <a:cs typeface="Calibri"/>
                <a:sym typeface="Calibri"/>
              </a:rPr>
              <a:t>Lead with technical or operational jargon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Clr>
                <a:srgbClr val="EFE7DD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FE7DD"/>
                </a:solidFill>
                <a:latin typeface="Calibri"/>
                <a:ea typeface="Calibri"/>
                <a:cs typeface="Calibri"/>
                <a:sym typeface="Calibri"/>
              </a:rPr>
              <a:t>Make compliance claims without CEO sign-off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Clr>
                <a:srgbClr val="EFE7DD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FE7DD"/>
                </a:solidFill>
                <a:latin typeface="Calibri"/>
                <a:ea typeface="Calibri"/>
                <a:cs typeface="Calibri"/>
                <a:sym typeface="Calibri"/>
              </a:rPr>
              <a:t>Imply TRÏNŪ replaces or competes with agents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KEY MESSAGES BY AUDIENCE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548640" y="86868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Same Brand, Three Emphases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48640" y="1783080"/>
            <a:ext cx="3514344" cy="4297680"/>
          </a:xfrm>
          <a:prstGeom prst="roundRect">
            <a:avLst>
              <a:gd fmla="val 1561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548640" y="1783080"/>
            <a:ext cx="3514344" cy="502920"/>
          </a:xfrm>
          <a:prstGeom prst="roundRect">
            <a:avLst>
              <a:gd fmla="val 10909" name="adj"/>
            </a:avLst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548640" y="2057400"/>
            <a:ext cx="3514344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777240" y="1783080"/>
            <a:ext cx="30571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Importers &amp; Traders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822960" y="2560320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Clear your goods closer to home. Save time, save cost, skip the Lagos/Kano trip.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822960" y="5440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CONFIDENT · PRACTICAL · BENEFIT-FIRST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337304" y="1783080"/>
            <a:ext cx="3514344" cy="4297680"/>
          </a:xfrm>
          <a:prstGeom prst="roundRect">
            <a:avLst>
              <a:gd fmla="val 1561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4337304" y="1783080"/>
            <a:ext cx="3514344" cy="502920"/>
          </a:xfrm>
          <a:prstGeom prst="roundRect">
            <a:avLst>
              <a:gd fmla="val 10909" name="adj"/>
            </a:avLst>
          </a:prstGeom>
          <a:solidFill>
            <a:srgbClr val="B44D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337304" y="2057400"/>
            <a:ext cx="3514344" cy="228600"/>
          </a:xfrm>
          <a:prstGeom prst="rect">
            <a:avLst/>
          </a:prstGeom>
          <a:solidFill>
            <a:srgbClr val="B44D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4565904" y="1783080"/>
            <a:ext cx="30571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Forwarders &amp; Agents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4611624" y="2560320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We're a facility you plug into, not a competitor — your clients, your relationships, just faster infrastructure.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4611624" y="5440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4D2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44D2F"/>
                </a:solidFill>
                <a:latin typeface="Calibri"/>
                <a:ea typeface="Calibri"/>
                <a:cs typeface="Calibri"/>
                <a:sym typeface="Calibri"/>
              </a:rPr>
              <a:t>RESPECTFUL · COLLABORATIVE · REASSURING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125968" y="1783080"/>
            <a:ext cx="3514344" cy="4297680"/>
          </a:xfrm>
          <a:prstGeom prst="roundRect">
            <a:avLst>
              <a:gd fmla="val 1561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8125968" y="1783080"/>
            <a:ext cx="3514344" cy="502920"/>
          </a:xfrm>
          <a:prstGeom prst="roundRect">
            <a:avLst>
              <a:gd fmla="val 10909" name="adj"/>
            </a:avLst>
          </a:prstGeom>
          <a:solidFill>
            <a:srgbClr val="4E5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8125968" y="2057400"/>
            <a:ext cx="3514344" cy="228600"/>
          </a:xfrm>
          <a:prstGeom prst="rect">
            <a:avLst/>
          </a:prstGeom>
          <a:solidFill>
            <a:srgbClr val="4E5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8354568" y="1783080"/>
            <a:ext cx="30571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Regulators &amp; Government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8400288" y="2560320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Fully compliant, fully transparent, built to support existing customs processes.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8400288" y="5440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E5157"/>
                </a:solidFill>
                <a:latin typeface="Calibri"/>
                <a:ea typeface="Calibri"/>
                <a:cs typeface="Calibri"/>
                <a:sym typeface="Calibri"/>
              </a:rPr>
              <a:t>FORMAL · DEFERENTIAL · PRECISE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CHANNEL-SPECIFIC GUIDANCE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548640" y="86868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How Each Channel Should Feel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48640" y="1737360"/>
            <a:ext cx="11064240" cy="932688"/>
          </a:xfrm>
          <a:prstGeom prst="roundRect">
            <a:avLst>
              <a:gd fmla="val 4902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822960" y="1828800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E5157"/>
                </a:solidFill>
                <a:latin typeface="Calibri"/>
                <a:ea typeface="Calibri"/>
                <a:cs typeface="Calibri"/>
                <a:sym typeface="Calibri"/>
              </a:rPr>
              <a:t>Billboards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3291840" y="1828800"/>
            <a:ext cx="6309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One message per board. Tagline + logo + one supporting line max. Must be legible at driving speed.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9738360" y="1965960"/>
            <a:ext cx="1737360" cy="457200"/>
          </a:xfrm>
          <a:prstGeom prst="roundRect">
            <a:avLst>
              <a:gd fmla="val 50000" name="adj"/>
            </a:avLst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9738360" y="19659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Lucid Lemons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48640" y="2834640"/>
            <a:ext cx="11064240" cy="932688"/>
          </a:xfrm>
          <a:prstGeom prst="roundRect">
            <a:avLst>
              <a:gd fmla="val 4902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 txBox="1"/>
          <p:nvPr/>
        </p:nvSpPr>
        <p:spPr>
          <a:xfrm>
            <a:off x="822960" y="2926080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E5157"/>
                </a:solidFill>
                <a:latin typeface="Calibri"/>
                <a:ea typeface="Calibri"/>
                <a:cs typeface="Calibri"/>
                <a:sym typeface="Calibri"/>
              </a:rPr>
              <a:t>Radio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3291840" y="2926080"/>
            <a:ext cx="6309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Conversational script, plain language — mention convenience/time-saving in the first 5 seconds.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738360" y="3063240"/>
            <a:ext cx="1737360" cy="457200"/>
          </a:xfrm>
          <a:prstGeom prst="roundRect">
            <a:avLst>
              <a:gd fmla="val 50000" name="adj"/>
            </a:avLst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9738360" y="30632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Lucid Lemons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548640" y="3931920"/>
            <a:ext cx="11064240" cy="932688"/>
          </a:xfrm>
          <a:prstGeom prst="roundRect">
            <a:avLst>
              <a:gd fmla="val 4902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822960" y="4023360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E5157"/>
                </a:solidFill>
                <a:latin typeface="Calibri"/>
                <a:ea typeface="Calibri"/>
                <a:cs typeface="Calibri"/>
                <a:sym typeface="Calibri"/>
              </a:rPr>
              <a:t>Press &amp; Interviews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3291840" y="4023360"/>
            <a:ext cx="6309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Formal but not stiff — lead with the news, follow with compliance/trust framing.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9738360" y="4160520"/>
            <a:ext cx="1737360" cy="457200"/>
          </a:xfrm>
          <a:prstGeom prst="roundRect">
            <a:avLst>
              <a:gd fmla="val 50000" name="adj"/>
            </a:avLst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 txBox="1"/>
          <p:nvPr/>
        </p:nvSpPr>
        <p:spPr>
          <a:xfrm>
            <a:off x="9738360" y="41605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Lucid Lemons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48640" y="5029200"/>
            <a:ext cx="11064240" cy="932688"/>
          </a:xfrm>
          <a:prstGeom prst="roundRect">
            <a:avLst>
              <a:gd fmla="val 4902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822960" y="5120640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E5157"/>
                </a:solidFill>
                <a:latin typeface="Calibri"/>
                <a:ea typeface="Calibri"/>
                <a:cs typeface="Calibri"/>
                <a:sym typeface="Calibri"/>
              </a:rPr>
              <a:t>Social (all platforms)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3291840" y="5120640"/>
            <a:ext cx="6309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Weekly cadence — feed posts, Stories, and Reels. Everything routed for approval before it posts.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9738360" y="5257800"/>
            <a:ext cx="1737360" cy="457200"/>
          </a:xfrm>
          <a:prstGeom prst="roundRect">
            <a:avLst>
              <a:gd fmla="val 50000" name="adj"/>
            </a:avLst>
          </a:prstGeom>
          <a:solidFill>
            <a:srgbClr val="B44D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9738360" y="52578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Lucid lemons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22B1C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MANDATORY ELEMENTS &amp; GUARDRAILS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822960" y="8686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Non-Negotiables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1554480" y="182880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Logo integrity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1554480" y="2167128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D2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9D2C8"/>
                </a:solidFill>
                <a:latin typeface="Calibri"/>
                <a:ea typeface="Calibri"/>
                <a:cs typeface="Calibri"/>
                <a:sym typeface="Calibri"/>
              </a:rPr>
              <a:t>TRÏNŪ logo on all creative, used per guidelines — no distortion, no recoloring, sufficient clear space.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 txBox="1"/>
          <p:nvPr/>
        </p:nvSpPr>
        <p:spPr>
          <a:xfrm>
            <a:off x="822960" y="2926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1554480" y="288036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claims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1554480" y="3218688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D2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9D2C8"/>
                </a:solidFill>
                <a:latin typeface="Calibri"/>
                <a:ea typeface="Calibri"/>
                <a:cs typeface="Calibri"/>
                <a:sym typeface="Calibri"/>
              </a:rPr>
              <a:t>Any claim about customs compliance, processing times, or regulatory relationships needs CEO sign-off before use. No exceptions.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1554480" y="393192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competitor mentions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1554480" y="4270248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D2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9D2C8"/>
                </a:solidFill>
                <a:latin typeface="Calibri"/>
                <a:ea typeface="Calibri"/>
                <a:cs typeface="Calibri"/>
                <a:sym typeface="Calibri"/>
              </a:rPr>
              <a:t>No creative references competitors by name, in any channel.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822960" y="5029200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822960" y="5029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1554480" y="498348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Approval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1554480" y="5321808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D2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9D2C8"/>
                </a:solidFill>
                <a:latin typeface="Calibri"/>
                <a:ea typeface="Calibri"/>
                <a:cs typeface="Calibri"/>
                <a:sym typeface="Calibri"/>
              </a:rPr>
              <a:t>Agency → Brand Manager → CEO. Nothing is produced, published, printed, or booked before written approval.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QUICK REFERENCE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15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E5157"/>
                </a:solidFill>
                <a:latin typeface="Cambria"/>
                <a:ea typeface="Cambria"/>
                <a:cs typeface="Cambria"/>
                <a:sym typeface="Cambria"/>
              </a:rPr>
              <a:t>Do's and Don'ts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548640" y="1645920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6355080" y="1645920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4D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4D2F"/>
                </a:solidFill>
                <a:latin typeface="Calibri"/>
                <a:ea typeface="Calibri"/>
                <a:cs typeface="Calibri"/>
                <a:sym typeface="Calibri"/>
              </a:rPr>
              <a:t>DON'T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48640" y="2103120"/>
            <a:ext cx="5257800" cy="704088"/>
          </a:xfrm>
          <a:prstGeom prst="roundRect">
            <a:avLst>
              <a:gd fmla="val 6494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 txBox="1"/>
          <p:nvPr/>
        </p:nvSpPr>
        <p:spPr>
          <a:xfrm>
            <a:off x="777240" y="2103120"/>
            <a:ext cx="48006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Use real facility photography where available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355080" y="2103120"/>
            <a:ext cx="5257800" cy="704088"/>
          </a:xfrm>
          <a:prstGeom prst="roundRect">
            <a:avLst>
              <a:gd fmla="val 6494" name="adj"/>
            </a:avLst>
          </a:prstGeom>
          <a:solidFill>
            <a:srgbClr val="F7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6583680" y="2103120"/>
            <a:ext cx="48006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Use generic stock port/warehouse images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48640" y="2944368"/>
            <a:ext cx="5257800" cy="704088"/>
          </a:xfrm>
          <a:prstGeom prst="roundRect">
            <a:avLst>
              <a:gd fmla="val 6494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 txBox="1"/>
          <p:nvPr/>
        </p:nvSpPr>
        <p:spPr>
          <a:xfrm>
            <a:off x="777240" y="2944368"/>
            <a:ext cx="48006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Lead with practical benefits (time, cost, convenience)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355080" y="2944368"/>
            <a:ext cx="5257800" cy="704088"/>
          </a:xfrm>
          <a:prstGeom prst="roundRect">
            <a:avLst>
              <a:gd fmla="val 6494" name="adj"/>
            </a:avLst>
          </a:prstGeom>
          <a:solidFill>
            <a:srgbClr val="F7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 txBox="1"/>
          <p:nvPr/>
        </p:nvSpPr>
        <p:spPr>
          <a:xfrm>
            <a:off x="6583680" y="2944368"/>
            <a:ext cx="48006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Lead with technical/operational jargon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548640" y="3785616"/>
            <a:ext cx="5257800" cy="704088"/>
          </a:xfrm>
          <a:prstGeom prst="roundRect">
            <a:avLst>
              <a:gd fmla="val 6494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 txBox="1"/>
          <p:nvPr/>
        </p:nvSpPr>
        <p:spPr>
          <a:xfrm>
            <a:off x="777240" y="3785616"/>
            <a:ext cx="48006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Frame agents/forwarders as partners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355080" y="3785616"/>
            <a:ext cx="5257800" cy="704088"/>
          </a:xfrm>
          <a:prstGeom prst="roundRect">
            <a:avLst>
              <a:gd fmla="val 6494" name="adj"/>
            </a:avLst>
          </a:prstGeom>
          <a:solidFill>
            <a:srgbClr val="F7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 txBox="1"/>
          <p:nvPr/>
        </p:nvSpPr>
        <p:spPr>
          <a:xfrm>
            <a:off x="6583680" y="3785616"/>
            <a:ext cx="48006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Imply TRÏNŪ competes with or replaces agents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548640" y="4626864"/>
            <a:ext cx="5257800" cy="704088"/>
          </a:xfrm>
          <a:prstGeom prst="roundRect">
            <a:avLst>
              <a:gd fmla="val 6494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 txBox="1"/>
          <p:nvPr/>
        </p:nvSpPr>
        <p:spPr>
          <a:xfrm>
            <a:off x="777240" y="4626864"/>
            <a:ext cx="48006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Keep regulatory messaging formal and deferential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6355080" y="4626864"/>
            <a:ext cx="5257800" cy="704088"/>
          </a:xfrm>
          <a:prstGeom prst="roundRect">
            <a:avLst>
              <a:gd fmla="val 6494" name="adj"/>
            </a:avLst>
          </a:prstGeom>
          <a:solidFill>
            <a:srgbClr val="F7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 txBox="1"/>
          <p:nvPr/>
        </p:nvSpPr>
        <p:spPr>
          <a:xfrm>
            <a:off x="6583680" y="4626864"/>
            <a:ext cx="48006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Make compliance claims without CEO sign-off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48640" y="5468112"/>
            <a:ext cx="5257800" cy="704088"/>
          </a:xfrm>
          <a:prstGeom prst="roundRect">
            <a:avLst>
              <a:gd fmla="val 6494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777240" y="5468112"/>
            <a:ext cx="48006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One clear message per billboard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355080" y="5468112"/>
            <a:ext cx="5257800" cy="704088"/>
          </a:xfrm>
          <a:prstGeom prst="roundRect">
            <a:avLst>
              <a:gd fmla="val 6494" name="adj"/>
            </a:avLst>
          </a:prstGeom>
          <a:solidFill>
            <a:srgbClr val="F7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 txBox="1"/>
          <p:nvPr/>
        </p:nvSpPr>
        <p:spPr>
          <a:xfrm>
            <a:off x="6583680" y="5468112"/>
            <a:ext cx="48006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Cram multiple messages onto one 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22B1C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/>
          <p:nvPr/>
        </p:nvSpPr>
        <p:spPr>
          <a:xfrm>
            <a:off x="822960" y="1463040"/>
            <a:ext cx="10515600" cy="3931920"/>
          </a:xfrm>
          <a:prstGeom prst="roundRect">
            <a:avLst>
              <a:gd fmla="val 1860" name="adj"/>
            </a:avLst>
          </a:prstGeom>
          <a:solidFill>
            <a:srgbClr val="4E51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 txBox="1"/>
          <p:nvPr/>
        </p:nvSpPr>
        <p:spPr>
          <a:xfrm>
            <a:off x="1188720" y="182880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Questions on Direction?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1188720" y="251460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D9D2C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9D2C8"/>
                </a:solidFill>
                <a:latin typeface="Calibri"/>
                <a:ea typeface="Calibri"/>
                <a:cs typeface="Calibri"/>
                <a:sym typeface="Calibri"/>
              </a:rPr>
              <a:t>Route everything through the Brand Manager for review before it goes to the CEO for final sign-off. Build the 2–3 business day review cycle into your delivery timelines.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3"/>
          <p:cNvCxnSpPr/>
          <p:nvPr/>
        </p:nvCxnSpPr>
        <p:spPr>
          <a:xfrm>
            <a:off x="1188720" y="3520440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6B6E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3"/>
          <p:cNvSpPr txBox="1"/>
          <p:nvPr/>
        </p:nvSpPr>
        <p:spPr>
          <a:xfrm>
            <a:off x="1188720" y="3794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MUKTAR MAHDI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1188720" y="416052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Brand Manager, TRÏNŪ Bonded Warehouse — on behalf of Bilal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Ajijola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CEO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2026-09-07T16:13:57Z</dcterms:created>
  <dc:creator>PptxGenJS</dc:creator>
</cp:coreProperties>
</file>